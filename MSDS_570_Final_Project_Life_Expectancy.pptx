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5143500" cx="9144000"/>
  <p:notesSz cx="6858000" cy="9144000"/>
  <p:embeddedFontLst>
    <p:embeddedFont>
      <p:font typeface="Play"/>
      <p:regular r:id="rId19"/>
      <p:bold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ay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font" Target="fonts/Play-regular.fntdata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d85650228a_2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d85650228a_2_7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d85650228a_2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g3d85650228a_2_8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d85650228a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g3d85650228a_0_4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d85650228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g3d85650228a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d85650228a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g3d85650228a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d8bdf01c8e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g3d8bdf01c8e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d85650228a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g3d85650228a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d8bdf01c8e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g3d8bdf01c8e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g3d8bdf01c8e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g3d8bdf01c8e_1_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d85650228a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g3d85650228a_0_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g3d8bdf01c8e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g3d8bdf01c8e_0_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d85650228a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g3d85650228a_0_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1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500"/>
              <a:buNone/>
              <a:defRPr sz="15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400"/>
              <a:buNone/>
              <a:defRPr sz="14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71" name="Google Shape;71;p1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Google Shape;79;p1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4" name="Google Shape;84;p18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5" name="Google Shape;85;p1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6" name="Google Shape;86;p18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7" name="Google Shape;87;p18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8" name="Google Shape;88;p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9" name="Google Shape;89;p1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  <a:defRPr b="0" i="0" sz="33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5" Type="http://schemas.openxmlformats.org/officeDocument/2006/relationships/image" Target="../media/image1.png"/><Relationship Id="rId6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ackground pattern&#10;&#10;Description automatically generated" id="129" name="Google Shape;129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-408850" y="-10550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5"/>
          <p:cNvSpPr txBox="1"/>
          <p:nvPr>
            <p:ph type="ctrTitle"/>
          </p:nvPr>
        </p:nvSpPr>
        <p:spPr>
          <a:xfrm>
            <a:off x="395650" y="1006100"/>
            <a:ext cx="8126700" cy="12369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 fontScale="9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6C1A42"/>
              </a:buClr>
              <a:buSzPct val="100000"/>
              <a:buFont typeface="Arial"/>
              <a:buNone/>
            </a:pPr>
            <a:r>
              <a:rPr b="1" lang="en" sz="3600">
                <a:solidFill>
                  <a:srgbClr val="6C1A42"/>
                </a:solidFill>
                <a:latin typeface="Arial"/>
                <a:ea typeface="Arial"/>
                <a:cs typeface="Arial"/>
                <a:sym typeface="Arial"/>
              </a:rPr>
              <a:t>Trend in global life expectancy over a decade taking socioeconomic and political factors into play</a:t>
            </a:r>
            <a:r>
              <a:rPr b="1" lang="en" sz="3600">
                <a:solidFill>
                  <a:srgbClr val="6C1A4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131" name="Google Shape;131;p25"/>
          <p:cNvSpPr txBox="1"/>
          <p:nvPr>
            <p:ph idx="1" type="subTitle"/>
          </p:nvPr>
        </p:nvSpPr>
        <p:spPr>
          <a:xfrm>
            <a:off x="1030000" y="2452659"/>
            <a:ext cx="6858000" cy="16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70000" lnSpcReduction="2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" sz="2400"/>
              <a:t>Isaac Adebayo, </a:t>
            </a:r>
            <a:r>
              <a:rPr b="1" lang="en" sz="2400">
                <a:latin typeface="Arial"/>
                <a:ea typeface="Arial"/>
                <a:cs typeface="Arial"/>
                <a:sym typeface="Arial"/>
              </a:rPr>
              <a:t>Charnisha Azubuike, and </a:t>
            </a:r>
            <a:endParaRPr b="1" sz="24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" sz="2400">
                <a:latin typeface="Arial"/>
                <a:ea typeface="Arial"/>
                <a:cs typeface="Arial"/>
                <a:sym typeface="Arial"/>
              </a:rPr>
              <a:t>Michella Maddo</a:t>
            </a:r>
            <a:r>
              <a:rPr b="1" lang="en" sz="2400"/>
              <a:t>x-McGhee</a:t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1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" sz="2100"/>
              <a:t>Wednesday, April 22, </a:t>
            </a:r>
            <a:r>
              <a:rPr lang="en" sz="2100">
                <a:latin typeface="Arial"/>
                <a:ea typeface="Arial"/>
                <a:cs typeface="Arial"/>
                <a:sym typeface="Arial"/>
              </a:rPr>
              <a:t>2026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800515"/>
            <a:ext cx="9144000" cy="3429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67551" y="4378031"/>
            <a:ext cx="669626" cy="669626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26"/>
          <p:cNvSpPr txBox="1"/>
          <p:nvPr/>
        </p:nvSpPr>
        <p:spPr>
          <a:xfrm>
            <a:off x="123720" y="811881"/>
            <a:ext cx="8581742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3429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3429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Noto Sans Symbols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26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Times New Roman"/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Project Introduction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0" name="Google Shape;140;p26"/>
          <p:cNvSpPr txBox="1"/>
          <p:nvPr>
            <p:ph idx="1" type="body"/>
          </p:nvPr>
        </p:nvSpPr>
        <p:spPr>
          <a:xfrm>
            <a:off x="628650" y="1385688"/>
            <a:ext cx="821817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55000" lnSpcReduction="20000"/>
          </a:bodyPr>
          <a:lstStyle/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43137"/>
              <a:buFont typeface="Arial"/>
              <a:buNone/>
            </a:pPr>
            <a:r>
              <a:rPr lang="en" sz="2550"/>
              <a:t>This project examines </a:t>
            </a:r>
            <a:r>
              <a:rPr b="1" lang="en" sz="2550"/>
              <a:t>global life expectancy trends (2001–2019)</a:t>
            </a:r>
            <a:r>
              <a:rPr lang="en" sz="2550"/>
              <a:t> using World Bank data</a:t>
            </a:r>
            <a:endParaRPr sz="255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43137"/>
              <a:buFont typeface="Arial"/>
              <a:buNone/>
            </a:pPr>
            <a:r>
              <a:rPr lang="en" sz="2550"/>
              <a:t>Focuses on how </a:t>
            </a:r>
            <a:r>
              <a:rPr b="1" lang="en" sz="2550"/>
              <a:t>socioeconomic, environmental, and political factors</a:t>
            </a:r>
            <a:r>
              <a:rPr lang="en" sz="2550"/>
              <a:t> shape health outcomes</a:t>
            </a:r>
            <a:endParaRPr sz="255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43137"/>
              <a:buFont typeface="Arial"/>
              <a:buNone/>
            </a:pPr>
            <a:r>
              <a:rPr lang="en" sz="2550"/>
              <a:t>Analyzes variables such as:</a:t>
            </a:r>
            <a:endParaRPr sz="2550"/>
          </a:p>
          <a:p>
            <a:pPr indent="-317659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 sz="2550"/>
              <a:t>Healthcare and education spending</a:t>
            </a:r>
            <a:endParaRPr sz="2550"/>
          </a:p>
          <a:p>
            <a:pPr indent="-317659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550"/>
              <a:t>Unemployment and income group</a:t>
            </a:r>
            <a:endParaRPr sz="2550"/>
          </a:p>
          <a:p>
            <a:pPr indent="-317659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550"/>
              <a:t>Environmental indicators (CO₂)</a:t>
            </a:r>
            <a:endParaRPr sz="2550"/>
          </a:p>
          <a:p>
            <a:pPr indent="-317659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2550"/>
              <a:t>Governance factors (e.g., corruption)</a:t>
            </a:r>
            <a:endParaRPr sz="255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43137"/>
              <a:buFont typeface="Arial"/>
              <a:buNone/>
            </a:pPr>
            <a:r>
              <a:rPr lang="en" sz="2550"/>
              <a:t>The goal is to understand how </a:t>
            </a:r>
            <a:r>
              <a:rPr b="1" lang="en" sz="2550"/>
              <a:t>non-medical factors influence population health and longevity.</a:t>
            </a:r>
            <a:endParaRPr b="1" sz="2550"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  <a:p>
            <a:pPr indent="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800514"/>
            <a:ext cx="9144001" cy="3429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67551" y="4378031"/>
            <a:ext cx="669626" cy="669626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7"/>
          <p:cNvSpPr txBox="1"/>
          <p:nvPr/>
        </p:nvSpPr>
        <p:spPr>
          <a:xfrm>
            <a:off x="123720" y="811881"/>
            <a:ext cx="85818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2500" lnSpcReduction="20000"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3429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3429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8" name="Google Shape;148;p27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Times New Roman"/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Project Goals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27"/>
          <p:cNvSpPr txBox="1"/>
          <p:nvPr>
            <p:ph idx="1" type="body"/>
          </p:nvPr>
        </p:nvSpPr>
        <p:spPr>
          <a:xfrm>
            <a:off x="628650" y="1385688"/>
            <a:ext cx="8218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32500" lnSpcReduction="20000"/>
          </a:bodyPr>
          <a:lstStyle/>
          <a:p>
            <a:pPr indent="-321469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 sz="4500"/>
              <a:t>Analyze </a:t>
            </a:r>
            <a:r>
              <a:rPr b="1" lang="en" sz="4500"/>
              <a:t>changes in life expectancy across countries before COVID-19</a:t>
            </a:r>
            <a:endParaRPr b="1" sz="4500"/>
          </a:p>
          <a:p>
            <a:pPr indent="-321469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4500"/>
              <a:t>Examine the relationship between </a:t>
            </a:r>
            <a:r>
              <a:rPr b="1" lang="en" sz="4500"/>
              <a:t>life expectancy and key socioeconomic factors</a:t>
            </a:r>
            <a:endParaRPr b="1" sz="4500"/>
          </a:p>
          <a:p>
            <a:pPr indent="-321469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 sz="4500"/>
              <a:t>Identify </a:t>
            </a:r>
            <a:r>
              <a:rPr b="1" lang="en" sz="4500"/>
              <a:t>which factors have the strongest influence on longevity</a:t>
            </a:r>
            <a:endParaRPr b="1" sz="45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4500"/>
              <a:t>Big Picture Goal:</a:t>
            </a:r>
            <a:endParaRPr b="1" sz="4500"/>
          </a:p>
          <a:p>
            <a:pPr indent="-321469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 sz="4500"/>
              <a:t>Provide insights that can inform:</a:t>
            </a:r>
            <a:endParaRPr sz="4500"/>
          </a:p>
          <a:p>
            <a:pPr indent="-321469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4500"/>
              <a:t>Public health strategies</a:t>
            </a:r>
            <a:endParaRPr sz="4500"/>
          </a:p>
          <a:p>
            <a:pPr indent="-321469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4500"/>
              <a:t>Policy decisions on resource allocation</a:t>
            </a:r>
            <a:endParaRPr sz="4500"/>
          </a:p>
          <a:p>
            <a:pPr indent="-321469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" sz="4500"/>
              <a:t>Broader understanding of health inequities</a:t>
            </a:r>
            <a:endParaRPr sz="45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2700"/>
          </a:p>
          <a:p>
            <a:pPr indent="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800514"/>
            <a:ext cx="9144001" cy="3429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67551" y="4378031"/>
            <a:ext cx="669626" cy="669626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8"/>
          <p:cNvSpPr txBox="1"/>
          <p:nvPr/>
        </p:nvSpPr>
        <p:spPr>
          <a:xfrm>
            <a:off x="4799599" y="1114625"/>
            <a:ext cx="36339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25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8115">
                <a:solidFill>
                  <a:schemeClr val="dk1"/>
                </a:solidFill>
              </a:rPr>
              <a:t>Data Quality &amp; Limitations</a:t>
            </a:r>
            <a:endParaRPr b="1" sz="8115">
              <a:solidFill>
                <a:schemeClr val="dk1"/>
              </a:solidFill>
            </a:endParaRPr>
          </a:p>
          <a:p>
            <a:pPr indent="-306632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4915">
                <a:solidFill>
                  <a:schemeClr val="dk1"/>
                </a:solidFill>
              </a:rPr>
              <a:t>Countries:</a:t>
            </a:r>
            <a:r>
              <a:rPr lang="en" sz="4915">
                <a:solidFill>
                  <a:schemeClr val="dk1"/>
                </a:solidFill>
              </a:rPr>
              <a:t> 174</a:t>
            </a:r>
            <a:endParaRPr sz="4915">
              <a:solidFill>
                <a:schemeClr val="dk1"/>
              </a:solidFill>
            </a:endParaRPr>
          </a:p>
          <a:p>
            <a:pPr indent="-30663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b="1" lang="en" sz="4915">
                <a:solidFill>
                  <a:schemeClr val="dk1"/>
                </a:solidFill>
              </a:rPr>
              <a:t>Regions / Income Groups:</a:t>
            </a:r>
            <a:r>
              <a:rPr lang="en" sz="4915">
                <a:solidFill>
                  <a:schemeClr val="dk1"/>
                </a:solidFill>
              </a:rPr>
              <a:t> 7 each</a:t>
            </a:r>
            <a:endParaRPr sz="4915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" sz="4915">
                <a:solidFill>
                  <a:schemeClr val="dk1"/>
                </a:solidFill>
              </a:rPr>
              <a:t>Missing Data (Key Issues):</a:t>
            </a:r>
            <a:endParaRPr b="1" sz="4915">
              <a:solidFill>
                <a:schemeClr val="dk1"/>
              </a:solidFill>
            </a:endParaRPr>
          </a:p>
          <a:p>
            <a:pPr indent="-306632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4915">
                <a:solidFill>
                  <a:schemeClr val="dk1"/>
                </a:solidFill>
              </a:rPr>
              <a:t>Corruption (High missing ⚠️)</a:t>
            </a:r>
            <a:endParaRPr sz="4915">
              <a:solidFill>
                <a:schemeClr val="dk1"/>
              </a:solidFill>
            </a:endParaRPr>
          </a:p>
          <a:p>
            <a:pPr indent="-30663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4915">
                <a:solidFill>
                  <a:schemeClr val="dk1"/>
                </a:solidFill>
              </a:rPr>
              <a:t>Education (High missing ⚠️)</a:t>
            </a:r>
            <a:endParaRPr sz="4915">
              <a:solidFill>
                <a:schemeClr val="dk1"/>
              </a:solidFill>
            </a:endParaRPr>
          </a:p>
          <a:p>
            <a:pPr indent="-30663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4915">
                <a:solidFill>
                  <a:schemeClr val="dk1"/>
                </a:solidFill>
              </a:rPr>
              <a:t>Sanitation (Moderate missing)</a:t>
            </a:r>
            <a:endParaRPr sz="4915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b="1" lang="en" sz="4915">
                <a:solidFill>
                  <a:schemeClr val="dk1"/>
                </a:solidFill>
              </a:rPr>
              <a:t>No Missing Data:</a:t>
            </a:r>
            <a:endParaRPr b="1" sz="4915">
              <a:solidFill>
                <a:schemeClr val="dk1"/>
              </a:solidFill>
            </a:endParaRPr>
          </a:p>
          <a:p>
            <a:pPr indent="-306632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4915">
                <a:solidFill>
                  <a:schemeClr val="dk1"/>
                </a:solidFill>
              </a:rPr>
              <a:t>Injuries</a:t>
            </a:r>
            <a:endParaRPr sz="4915">
              <a:solidFill>
                <a:schemeClr val="dk1"/>
              </a:solidFill>
            </a:endParaRPr>
          </a:p>
          <a:p>
            <a:pPr indent="-30663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4915">
                <a:solidFill>
                  <a:schemeClr val="dk1"/>
                </a:solidFill>
              </a:rPr>
              <a:t>Communicable</a:t>
            </a:r>
            <a:endParaRPr sz="4915">
              <a:solidFill>
                <a:schemeClr val="dk1"/>
              </a:solidFill>
            </a:endParaRPr>
          </a:p>
          <a:p>
            <a:pPr indent="-30663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en" sz="4915">
                <a:solidFill>
                  <a:schemeClr val="dk1"/>
                </a:solidFill>
              </a:rPr>
              <a:t>Non-Communicable</a:t>
            </a:r>
            <a:endParaRPr sz="4915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2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3429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3429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28"/>
          <p:cNvSpPr txBox="1"/>
          <p:nvPr>
            <p:ph type="title"/>
          </p:nvPr>
        </p:nvSpPr>
        <p:spPr>
          <a:xfrm>
            <a:off x="628650" y="120419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Times New Roman"/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Dataset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8" name="Google Shape;158;p28"/>
          <p:cNvSpPr txBox="1"/>
          <p:nvPr>
            <p:ph idx="1" type="body"/>
          </p:nvPr>
        </p:nvSpPr>
        <p:spPr>
          <a:xfrm>
            <a:off x="707800" y="1114625"/>
            <a:ext cx="38643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b="1" lang="en" sz="2013"/>
              <a:t>Overview</a:t>
            </a:r>
            <a:endParaRPr b="1" sz="2013"/>
          </a:p>
          <a:p>
            <a:pPr indent="-172244" lvl="0" marL="1778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313"/>
              <a:buChar char="•"/>
            </a:pPr>
            <a:r>
              <a:rPr b="1" lang="en" sz="1313"/>
              <a:t>Source:</a:t>
            </a:r>
            <a:r>
              <a:rPr lang="en" sz="1313"/>
              <a:t> Kaggle (World Bank)</a:t>
            </a:r>
            <a:endParaRPr sz="1313"/>
          </a:p>
          <a:p>
            <a:pPr indent="-172244" lvl="0" marL="1778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313"/>
              <a:buChar char="•"/>
            </a:pPr>
            <a:r>
              <a:rPr b="1" lang="en" sz="1313"/>
              <a:t>Time Frame:</a:t>
            </a:r>
            <a:r>
              <a:rPr lang="en" sz="1313"/>
              <a:t> 2001–2019</a:t>
            </a:r>
            <a:endParaRPr sz="1313"/>
          </a:p>
          <a:p>
            <a:pPr indent="-172244" lvl="0" marL="1778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313"/>
              <a:buChar char="•"/>
            </a:pPr>
            <a:r>
              <a:rPr b="1" lang="en" sz="1313"/>
              <a:t>Observations:</a:t>
            </a:r>
            <a:r>
              <a:rPr lang="en" sz="1313"/>
              <a:t> 3,307</a:t>
            </a:r>
            <a:endParaRPr sz="1313"/>
          </a:p>
          <a:p>
            <a:pPr indent="-172244" lvl="0" marL="1778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313"/>
              <a:buChar char="•"/>
            </a:pPr>
            <a:r>
              <a:rPr b="1" lang="en" sz="1313"/>
              <a:t>Variables:</a:t>
            </a:r>
            <a:r>
              <a:rPr lang="en" sz="1313"/>
              <a:t> 16</a:t>
            </a:r>
            <a:endParaRPr sz="1313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rPr b="1" lang="en" sz="1313"/>
              <a:t>Key Variables:</a:t>
            </a:r>
            <a:endParaRPr b="1" sz="1313"/>
          </a:p>
          <a:p>
            <a:pPr indent="-311944" lvl="0" marL="4572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1313"/>
              <a:buChar char="●"/>
            </a:pPr>
            <a:r>
              <a:rPr lang="en" sz="1313"/>
              <a:t>Life Expectancy</a:t>
            </a:r>
            <a:endParaRPr sz="1313"/>
          </a:p>
          <a:p>
            <a:pPr indent="-311944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313"/>
              <a:buChar char="●"/>
            </a:pPr>
            <a:r>
              <a:rPr lang="en" sz="1313"/>
              <a:t>Undernourishment</a:t>
            </a:r>
            <a:endParaRPr sz="1313"/>
          </a:p>
          <a:p>
            <a:pPr indent="-311944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313"/>
              <a:buChar char="●"/>
            </a:pPr>
            <a:r>
              <a:rPr lang="en" sz="1313"/>
              <a:t>CO₂ Emissions</a:t>
            </a:r>
            <a:endParaRPr sz="1313"/>
          </a:p>
          <a:p>
            <a:pPr indent="-311944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313"/>
              <a:buChar char="●"/>
            </a:pPr>
            <a:r>
              <a:rPr lang="en" sz="1313"/>
              <a:t>Health &amp; Education Spending</a:t>
            </a:r>
            <a:endParaRPr sz="1313"/>
          </a:p>
          <a:p>
            <a:pPr indent="-311944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313"/>
              <a:buChar char="●"/>
            </a:pPr>
            <a:r>
              <a:rPr lang="en" sz="1313"/>
              <a:t>Unemployment, Corruption</a:t>
            </a:r>
            <a:endParaRPr sz="1313"/>
          </a:p>
          <a:p>
            <a:pPr indent="-311944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313"/>
              <a:buChar char="●"/>
            </a:pPr>
            <a:r>
              <a:rPr lang="en" sz="1313"/>
              <a:t>Sanitation &amp; Disease Categories</a:t>
            </a:r>
            <a:endParaRPr sz="1313"/>
          </a:p>
          <a:p>
            <a:pPr indent="0" lvl="0" marL="177800" rtl="0" algn="l">
              <a:lnSpc>
                <a:spcPct val="80000"/>
              </a:lnSpc>
              <a:spcBef>
                <a:spcPts val="1200"/>
              </a:spcBef>
              <a:spcAft>
                <a:spcPts val="0"/>
              </a:spcAft>
              <a:buSzPts val="275"/>
              <a:buNone/>
            </a:pPr>
            <a:r>
              <a:t/>
            </a:r>
            <a:endParaRPr sz="1075"/>
          </a:p>
          <a:p>
            <a:pPr indent="0" lvl="0" marL="17780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</a:pPr>
            <a:r>
              <a:t/>
            </a:r>
            <a:endParaRPr sz="1075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</a:pPr>
            <a:r>
              <a:t/>
            </a:r>
            <a:endParaRPr sz="1075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8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675"/>
              <a:buNone/>
            </a:pPr>
            <a:r>
              <a:t/>
            </a:r>
            <a:endParaRPr sz="1075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" name="Google Shape;163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800514"/>
            <a:ext cx="9144001" cy="3429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67551" y="4378031"/>
            <a:ext cx="669626" cy="669626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p29"/>
          <p:cNvSpPr txBox="1"/>
          <p:nvPr>
            <p:ph type="title"/>
          </p:nvPr>
        </p:nvSpPr>
        <p:spPr>
          <a:xfrm>
            <a:off x="628650" y="35398"/>
            <a:ext cx="7886700" cy="7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Times New Roman"/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Exploratory analysis of data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6" name="Google Shape;166;p2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65575" y="862525"/>
            <a:ext cx="4136500" cy="322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392700" y="862525"/>
            <a:ext cx="4644475" cy="329712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8" name="Google Shape;168;p29"/>
          <p:cNvGrpSpPr/>
          <p:nvPr/>
        </p:nvGrpSpPr>
        <p:grpSpPr>
          <a:xfrm>
            <a:off x="1091222" y="3863625"/>
            <a:ext cx="2374294" cy="382800"/>
            <a:chOff x="1091225" y="3863625"/>
            <a:chExt cx="2214000" cy="382800"/>
          </a:xfrm>
        </p:grpSpPr>
        <p:sp>
          <p:nvSpPr>
            <p:cNvPr id="169" name="Google Shape;169;p29"/>
            <p:cNvSpPr/>
            <p:nvPr/>
          </p:nvSpPr>
          <p:spPr>
            <a:xfrm>
              <a:off x="1091225" y="3863625"/>
              <a:ext cx="2214000" cy="3828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29"/>
            <p:cNvSpPr txBox="1"/>
            <p:nvPr/>
          </p:nvSpPr>
          <p:spPr>
            <a:xfrm>
              <a:off x="1241025" y="3870375"/>
              <a:ext cx="18042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dk1"/>
                  </a:solidFill>
                </a:rPr>
                <a:t>Life Expectancy: World Bank</a:t>
              </a:r>
              <a:endParaRPr sz="900">
                <a:solidFill>
                  <a:schemeClr val="dk1"/>
                </a:solidFill>
              </a:endParaRPr>
            </a:p>
          </p:txBody>
        </p:sp>
      </p:grpSp>
      <p:sp>
        <p:nvSpPr>
          <p:cNvPr id="171" name="Google Shape;171;p29"/>
          <p:cNvSpPr/>
          <p:nvPr/>
        </p:nvSpPr>
        <p:spPr>
          <a:xfrm>
            <a:off x="5150336" y="4087925"/>
            <a:ext cx="2519100" cy="382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29"/>
          <p:cNvSpPr txBox="1"/>
          <p:nvPr/>
        </p:nvSpPr>
        <p:spPr>
          <a:xfrm>
            <a:off x="5306825" y="4017725"/>
            <a:ext cx="2835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dk1"/>
                </a:solidFill>
              </a:rPr>
              <a:t>Mean Life Expectancy Trend by Region</a:t>
            </a:r>
            <a:endParaRPr sz="9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800514"/>
            <a:ext cx="9144001" cy="3429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67551" y="4378031"/>
            <a:ext cx="669626" cy="669626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30"/>
          <p:cNvSpPr txBox="1"/>
          <p:nvPr>
            <p:ph type="title"/>
          </p:nvPr>
        </p:nvSpPr>
        <p:spPr>
          <a:xfrm>
            <a:off x="628650" y="35398"/>
            <a:ext cx="7886700" cy="73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Times New Roman"/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Exploratory analysis of data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0" name="Google Shape;180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87275" y="808125"/>
            <a:ext cx="4859725" cy="3628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047000" y="808113"/>
            <a:ext cx="3931425" cy="352727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82" name="Google Shape;182;p30"/>
          <p:cNvGrpSpPr/>
          <p:nvPr/>
        </p:nvGrpSpPr>
        <p:grpSpPr>
          <a:xfrm>
            <a:off x="1313547" y="4199500"/>
            <a:ext cx="2374294" cy="382800"/>
            <a:chOff x="1091225" y="3930675"/>
            <a:chExt cx="2214000" cy="382800"/>
          </a:xfrm>
        </p:grpSpPr>
        <p:sp>
          <p:nvSpPr>
            <p:cNvPr id="183" name="Google Shape;183;p30"/>
            <p:cNvSpPr/>
            <p:nvPr/>
          </p:nvSpPr>
          <p:spPr>
            <a:xfrm>
              <a:off x="1091225" y="3930675"/>
              <a:ext cx="2214000" cy="3828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30"/>
            <p:cNvSpPr txBox="1"/>
            <p:nvPr/>
          </p:nvSpPr>
          <p:spPr>
            <a:xfrm>
              <a:off x="1249744" y="3945075"/>
              <a:ext cx="1804200" cy="3231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900">
                  <a:solidFill>
                    <a:schemeClr val="dk1"/>
                  </a:solidFill>
                </a:rPr>
                <a:t>Life Expectancy By Region</a:t>
              </a:r>
              <a:endParaRPr sz="900">
                <a:solidFill>
                  <a:schemeClr val="dk1"/>
                </a:solidFill>
              </a:endParaRPr>
            </a:p>
          </p:txBody>
        </p:sp>
      </p:grpSp>
      <p:grpSp>
        <p:nvGrpSpPr>
          <p:cNvPr id="185" name="Google Shape;185;p30"/>
          <p:cNvGrpSpPr/>
          <p:nvPr/>
        </p:nvGrpSpPr>
        <p:grpSpPr>
          <a:xfrm>
            <a:off x="5283025" y="4281975"/>
            <a:ext cx="3232321" cy="382800"/>
            <a:chOff x="511127" y="3930675"/>
            <a:chExt cx="3014100" cy="382800"/>
          </a:xfrm>
        </p:grpSpPr>
        <p:sp>
          <p:nvSpPr>
            <p:cNvPr id="186" name="Google Shape;186;p30"/>
            <p:cNvSpPr/>
            <p:nvPr/>
          </p:nvSpPr>
          <p:spPr>
            <a:xfrm>
              <a:off x="1091225" y="3930675"/>
              <a:ext cx="2214000" cy="3828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" name="Google Shape;187;p30"/>
            <p:cNvSpPr txBox="1"/>
            <p:nvPr/>
          </p:nvSpPr>
          <p:spPr>
            <a:xfrm>
              <a:off x="511127" y="3968175"/>
              <a:ext cx="3014100" cy="307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sp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chemeClr val="dk1"/>
                  </a:solidFill>
                </a:rPr>
                <a:t>Correlation matrix  of colums contributing to global life expectancy</a:t>
              </a:r>
              <a:endParaRPr sz="800">
                <a:solidFill>
                  <a:schemeClr val="dk1"/>
                </a:solidFill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2" name="Google Shape;19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800514"/>
            <a:ext cx="9144001" cy="342986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67551" y="4378031"/>
            <a:ext cx="669626" cy="669626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31"/>
          <p:cNvSpPr txBox="1"/>
          <p:nvPr>
            <p:ph type="title"/>
          </p:nvPr>
        </p:nvSpPr>
        <p:spPr>
          <a:xfrm>
            <a:off x="503800" y="25579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Times New Roman"/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Visualization Techniques Used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5" name="Google Shape;195;p31"/>
          <p:cNvSpPr txBox="1"/>
          <p:nvPr>
            <p:ph idx="1" type="body"/>
          </p:nvPr>
        </p:nvSpPr>
        <p:spPr>
          <a:xfrm>
            <a:off x="503800" y="1210913"/>
            <a:ext cx="8218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55000" lnSpcReduction="2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70885"/>
              <a:buNone/>
            </a:pPr>
            <a:r>
              <a:rPr lang="en" sz="3809"/>
              <a:t>Exploratory Data Analysis (EDA)</a:t>
            </a:r>
            <a:endParaRPr sz="3809"/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16"/>
          </a:p>
          <a:p>
            <a:pPr indent="-34022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" sz="3196"/>
              <a:t>Choropleth Map (geospatial)</a:t>
            </a:r>
            <a:endParaRPr sz="3196"/>
          </a:p>
          <a:p>
            <a:pPr indent="-34022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" sz="3196"/>
              <a:t>Histogram (distribution analysis)</a:t>
            </a:r>
            <a:endParaRPr sz="3196"/>
          </a:p>
          <a:p>
            <a:pPr indent="-34022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" sz="3196"/>
              <a:t>Line Graph (time series analysis)</a:t>
            </a:r>
            <a:endParaRPr sz="3196"/>
          </a:p>
          <a:p>
            <a:pPr indent="-34022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" sz="3196"/>
              <a:t>Multiple Line Graph (multivariate time series comparison)</a:t>
            </a:r>
            <a:endParaRPr sz="3196"/>
          </a:p>
          <a:p>
            <a:pPr indent="-34022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" sz="3196"/>
              <a:t>Scatter Plot (bivariate relationship analysis)</a:t>
            </a:r>
            <a:endParaRPr sz="3196"/>
          </a:p>
          <a:p>
            <a:pPr indent="-34022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" sz="3196"/>
              <a:t>Bar Graph (categorical comparison)</a:t>
            </a:r>
            <a:endParaRPr sz="3196"/>
          </a:p>
          <a:p>
            <a:pPr indent="-34022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" sz="3196"/>
              <a:t>Log-Scaled Bar Graph (scaled comparitive analysis)</a:t>
            </a:r>
            <a:endParaRPr sz="3196"/>
          </a:p>
          <a:p>
            <a:pPr indent="-34022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" sz="3196"/>
              <a:t>Box Plot (distribution summary; median, IQR, outliers)</a:t>
            </a:r>
            <a:endParaRPr sz="3196"/>
          </a:p>
          <a:p>
            <a:pPr indent="-34022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" sz="3196"/>
              <a:t>Correlation Matrix/Correlogram (multivariate relationship analysis)</a:t>
            </a:r>
            <a:endParaRPr sz="3196"/>
          </a:p>
          <a:p>
            <a:pPr indent="-340223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•"/>
            </a:pPr>
            <a:r>
              <a:rPr lang="en" sz="3196"/>
              <a:t>Pie Chart (proportional distribution)</a:t>
            </a:r>
            <a:endParaRPr sz="2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0" name="Google Shape;200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800514"/>
            <a:ext cx="9144001" cy="34298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67551" y="4378031"/>
            <a:ext cx="669626" cy="669626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32"/>
          <p:cNvSpPr txBox="1"/>
          <p:nvPr>
            <p:ph type="title"/>
          </p:nvPr>
        </p:nvSpPr>
        <p:spPr>
          <a:xfrm>
            <a:off x="521850" y="219719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Times New Roman"/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Visualization Techniques Used cont’d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3" name="Google Shape;203;p32"/>
          <p:cNvSpPr txBox="1"/>
          <p:nvPr>
            <p:ph idx="1" type="body"/>
          </p:nvPr>
        </p:nvSpPr>
        <p:spPr>
          <a:xfrm>
            <a:off x="521850" y="1156775"/>
            <a:ext cx="8078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</a:pPr>
            <a:r>
              <a:rPr lang="en" sz="2400"/>
              <a:t>Model Evaluations</a:t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</a:pPr>
            <a:r>
              <a:t/>
            </a:r>
            <a:endParaRPr sz="2400"/>
          </a:p>
          <a:p>
            <a:pPr indent="-349250" lvl="0" marL="4572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900"/>
              <a:buChar char="•"/>
            </a:pPr>
            <a:r>
              <a:rPr lang="en" sz="1900"/>
              <a:t>Histogram (train-test-split evaluation)</a:t>
            </a:r>
            <a:endParaRPr sz="1900"/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en" sz="1900"/>
              <a:t>Training vs. Validation Loss Curve (model performance over epochs)</a:t>
            </a:r>
            <a:endParaRPr sz="1900"/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en" sz="1900"/>
              <a:t>True vs. Predicted Scatterplot (regression performance evaluation)</a:t>
            </a:r>
            <a:endParaRPr sz="19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8" name="Google Shape;208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800514"/>
            <a:ext cx="9144001" cy="342986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67551" y="4378031"/>
            <a:ext cx="669626" cy="669626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33"/>
          <p:cNvSpPr txBox="1"/>
          <p:nvPr>
            <p:ph type="title"/>
          </p:nvPr>
        </p:nvSpPr>
        <p:spPr>
          <a:xfrm>
            <a:off x="521850" y="219719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Times New Roman"/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Visualization Techniques Used cont’d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1" name="Google Shape;211;p33"/>
          <p:cNvSpPr txBox="1"/>
          <p:nvPr>
            <p:ph idx="1" type="body"/>
          </p:nvPr>
        </p:nvSpPr>
        <p:spPr>
          <a:xfrm>
            <a:off x="521850" y="1156775"/>
            <a:ext cx="80787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</a:pPr>
            <a:r>
              <a:rPr lang="en" sz="2400"/>
              <a:t>Model Interpretability</a:t>
            </a:r>
            <a:endParaRPr sz="2400"/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</a:pPr>
            <a:r>
              <a:t/>
            </a:r>
            <a:endParaRPr sz="2400"/>
          </a:p>
          <a:p>
            <a:pPr indent="-349250" lvl="0" marL="457200" rtl="0" algn="l">
              <a:lnSpc>
                <a:spcPct val="150000"/>
              </a:lnSpc>
              <a:spcBef>
                <a:spcPts val="800"/>
              </a:spcBef>
              <a:spcAft>
                <a:spcPts val="0"/>
              </a:spcAft>
              <a:buSzPts val="1900"/>
              <a:buChar char="•"/>
            </a:pPr>
            <a:r>
              <a:rPr lang="en" sz="1900"/>
              <a:t>SHAP Summary Plot (global feature importance distribution)</a:t>
            </a:r>
            <a:endParaRPr sz="1900"/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en" sz="1900"/>
              <a:t>SHAP Waterfall Plot (local feature contribution breakdown)</a:t>
            </a:r>
            <a:endParaRPr sz="1900"/>
          </a:p>
          <a:p>
            <a:pPr indent="-3492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900"/>
              <a:buChar char="•"/>
            </a:pPr>
            <a:r>
              <a:rPr lang="en" sz="1900"/>
              <a:t>SHAP Decision Plot (cumulative feature contribution path)</a:t>
            </a:r>
            <a:endParaRPr sz="19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6" name="Google Shape;216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800514"/>
            <a:ext cx="9144001" cy="34298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7" name="Google Shape;217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67551" y="4378031"/>
            <a:ext cx="669626" cy="669626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34"/>
          <p:cNvSpPr txBox="1"/>
          <p:nvPr/>
        </p:nvSpPr>
        <p:spPr>
          <a:xfrm>
            <a:off x="123720" y="811881"/>
            <a:ext cx="85818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2500" lnSpcReduction="20000"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3429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3429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9" name="Google Shape;219;p34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Times New Roman"/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Conclusion &amp; Key Takeaways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0" name="Google Shape;220;p34"/>
          <p:cNvSpPr txBox="1"/>
          <p:nvPr>
            <p:ph idx="1" type="body"/>
          </p:nvPr>
        </p:nvSpPr>
        <p:spPr>
          <a:xfrm>
            <a:off x="628650" y="1385688"/>
            <a:ext cx="8218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47500" lnSpcReduction="10000"/>
          </a:bodyPr>
          <a:lstStyle/>
          <a:p>
            <a:pPr indent="-165814" lvl="0" marL="177800" rtl="0" algn="l">
              <a:spcBef>
                <a:spcPts val="800"/>
              </a:spcBef>
              <a:spcAft>
                <a:spcPts val="0"/>
              </a:spcAft>
              <a:buSzPct val="100000"/>
              <a:buChar char="•"/>
            </a:pPr>
            <a:r>
              <a:rPr lang="en" sz="2550"/>
              <a:t>Global life expectancy has improved over time, but </a:t>
            </a:r>
            <a:r>
              <a:rPr b="1" lang="en" sz="2550"/>
              <a:t>significant disparities still exist across regions</a:t>
            </a:r>
            <a:endParaRPr b="1" sz="2550"/>
          </a:p>
          <a:p>
            <a:pPr indent="-165814" lvl="0" marL="177800" rtl="0" algn="l">
              <a:spcBef>
                <a:spcPts val="800"/>
              </a:spcBef>
              <a:spcAft>
                <a:spcPts val="0"/>
              </a:spcAft>
              <a:buSzPct val="100000"/>
              <a:buChar char="•"/>
            </a:pPr>
            <a:r>
              <a:rPr b="1" lang="en" sz="2550"/>
              <a:t>Undernourishment and sanitation</a:t>
            </a:r>
            <a:r>
              <a:rPr lang="en" sz="2550"/>
              <a:t> are the strongest drivers of longevity, highlighting the importance of </a:t>
            </a:r>
            <a:r>
              <a:rPr b="1" lang="en" sz="2550"/>
              <a:t>basic living conditions over advanced interventions</a:t>
            </a:r>
            <a:endParaRPr b="1" sz="2550"/>
          </a:p>
          <a:p>
            <a:pPr indent="-165814" lvl="0" marL="177800" rtl="0" algn="l">
              <a:spcBef>
                <a:spcPts val="800"/>
              </a:spcBef>
              <a:spcAft>
                <a:spcPts val="0"/>
              </a:spcAft>
              <a:buSzPct val="100000"/>
              <a:buChar char="•"/>
            </a:pPr>
            <a:r>
              <a:rPr lang="en" sz="2550"/>
              <a:t>Predictive modeling showed that </a:t>
            </a:r>
            <a:r>
              <a:rPr b="1" lang="en" sz="2550"/>
              <a:t>geographic region (especially Sub-Saharan Africa)</a:t>
            </a:r>
            <a:r>
              <a:rPr lang="en" sz="2550"/>
              <a:t> plays a major role in life expectancy outcomes, reflecting structural inequalities</a:t>
            </a:r>
            <a:endParaRPr sz="2550"/>
          </a:p>
          <a:p>
            <a:pPr indent="-165814" lvl="0" marL="177800" rtl="0" algn="l">
              <a:spcBef>
                <a:spcPts val="800"/>
              </a:spcBef>
              <a:spcAft>
                <a:spcPts val="0"/>
              </a:spcAft>
              <a:buSzPct val="100000"/>
              <a:buChar char="•"/>
            </a:pPr>
            <a:r>
              <a:rPr lang="en" sz="2550"/>
              <a:t>More injuries and disease burden are strongly associated with </a:t>
            </a:r>
            <a:r>
              <a:rPr b="1" lang="en" sz="2550"/>
              <a:t>higher mortality rates</a:t>
            </a:r>
            <a:r>
              <a:rPr lang="en" sz="2550"/>
              <a:t>, reinforcing the need for prevention-focused strategies</a:t>
            </a:r>
            <a:endParaRPr sz="2550"/>
          </a:p>
          <a:p>
            <a:pPr indent="-165814" lvl="0" marL="177800" rtl="0" algn="l">
              <a:spcBef>
                <a:spcPts val="800"/>
              </a:spcBef>
              <a:spcAft>
                <a:spcPts val="0"/>
              </a:spcAft>
              <a:buSzPct val="100000"/>
              <a:buChar char="•"/>
            </a:pPr>
            <a:r>
              <a:rPr b="1" lang="en" sz="2550"/>
              <a:t>Policy Implication:</a:t>
            </a:r>
            <a:r>
              <a:rPr lang="en" sz="2550"/>
              <a:t> Countries should </a:t>
            </a:r>
            <a:r>
              <a:rPr b="1" lang="en" sz="2550"/>
              <a:t>allocate resources based on their most impactful factors</a:t>
            </a:r>
            <a:r>
              <a:rPr lang="en" sz="2550"/>
              <a:t> (e.g., nutrition, sanitation, disease control) rather than uniform spending</a:t>
            </a:r>
            <a:endParaRPr sz="2550"/>
          </a:p>
          <a:p>
            <a:pPr indent="-165814" lvl="0" marL="177800" rtl="0" algn="l">
              <a:spcBef>
                <a:spcPts val="800"/>
              </a:spcBef>
              <a:spcAft>
                <a:spcPts val="0"/>
              </a:spcAft>
              <a:buSzPct val="100000"/>
              <a:buChar char="•"/>
            </a:pPr>
            <a:r>
              <a:rPr b="1" lang="en" sz="2550"/>
              <a:t>Limitations:</a:t>
            </a:r>
            <a:r>
              <a:rPr lang="en" sz="2550"/>
              <a:t> Missing data and underrepresentation of certain countries may affect accuracy</a:t>
            </a:r>
            <a:endParaRPr sz="2550"/>
          </a:p>
          <a:p>
            <a:pPr indent="-165814" lvl="0" marL="177800" rtl="0" algn="l">
              <a:spcBef>
                <a:spcPts val="800"/>
              </a:spcBef>
              <a:spcAft>
                <a:spcPts val="0"/>
              </a:spcAft>
              <a:buSzPct val="100000"/>
              <a:buChar char="•"/>
            </a:pPr>
            <a:r>
              <a:rPr b="1" lang="en" sz="2550"/>
              <a:t>Future Direction:</a:t>
            </a:r>
            <a:r>
              <a:rPr lang="en" sz="2550"/>
              <a:t> Expand analysis to include </a:t>
            </a:r>
            <a:r>
              <a:rPr b="1" lang="en" sz="2550"/>
              <a:t>within-country disparities (ethnicity, culture, socioeconomic groups)</a:t>
            </a:r>
            <a:r>
              <a:rPr lang="en" sz="2550"/>
              <a:t> for more precise insights</a:t>
            </a:r>
            <a:endParaRPr sz="2550"/>
          </a:p>
          <a:p>
            <a:pPr indent="0" lvl="0" marL="17780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 sz="2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 sz="2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800514"/>
            <a:ext cx="9144001" cy="342986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67551" y="4378031"/>
            <a:ext cx="669626" cy="669626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35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Times New Roman"/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References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8" name="Google Shape;228;p35"/>
          <p:cNvSpPr txBox="1"/>
          <p:nvPr>
            <p:ph idx="1" type="body"/>
          </p:nvPr>
        </p:nvSpPr>
        <p:spPr>
          <a:xfrm>
            <a:off x="628650" y="1385700"/>
            <a:ext cx="8026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Google. </a:t>
            </a:r>
            <a:r>
              <a:rPr i="1" lang="en" sz="1700"/>
              <a:t>(2026)</a:t>
            </a:r>
            <a:r>
              <a:rPr lang="en" sz="1700"/>
              <a:t>. Code Debugging for EDA and Visualization and hyperparameter explanation. Gemini 2.5 Flash.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Life Expectancy and Socio-Economic (World Bank dataset). </a:t>
            </a:r>
            <a:r>
              <a:rPr i="1" lang="en" sz="1700"/>
              <a:t>(Accessed January 2026)</a:t>
            </a:r>
            <a:r>
              <a:rPr lang="en" sz="1700"/>
              <a:t>. Kaggle dataset.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World Bank Group. </a:t>
            </a:r>
            <a:r>
              <a:rPr i="1" lang="en" sz="1700"/>
              <a:t>(2026)</a:t>
            </a:r>
            <a:r>
              <a:rPr lang="en" sz="1700"/>
              <a:t>. “Life expectancy at birth, total (years)” dataset. World Bank Open Data. </a:t>
            </a:r>
            <a:endParaRPr sz="33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Google Shape;233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4800514"/>
            <a:ext cx="9144001" cy="342986"/>
          </a:xfrm>
          <a:prstGeom prst="rect">
            <a:avLst/>
          </a:prstGeom>
          <a:noFill/>
          <a:ln>
            <a:noFill/>
          </a:ln>
        </p:spPr>
      </p:pic>
      <p:pic>
        <p:nvPicPr>
          <p:cNvPr id="234" name="Google Shape;234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67551" y="4378031"/>
            <a:ext cx="669626" cy="669626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36"/>
          <p:cNvSpPr txBox="1"/>
          <p:nvPr/>
        </p:nvSpPr>
        <p:spPr>
          <a:xfrm>
            <a:off x="123720" y="811881"/>
            <a:ext cx="85818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 fontScale="92500" lnSpcReduction="20000"/>
          </a:bodyPr>
          <a:lstStyle/>
          <a:p>
            <a:pPr indent="0" lvl="0" marL="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3429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1" marL="3429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t/>
            </a:r>
            <a:endParaRPr b="0" i="0" sz="15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36"/>
          <p:cNvSpPr txBox="1"/>
          <p:nvPr>
            <p:ph type="title"/>
          </p:nvPr>
        </p:nvSpPr>
        <p:spPr>
          <a:xfrm>
            <a:off x="628650" y="273844"/>
            <a:ext cx="78867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Times New Roman"/>
              <a:buNone/>
            </a:pPr>
            <a:r>
              <a:rPr b="1" lang="en">
                <a:latin typeface="Times New Roman"/>
                <a:ea typeface="Times New Roman"/>
                <a:cs typeface="Times New Roman"/>
                <a:sym typeface="Times New Roman"/>
              </a:rPr>
              <a:t>Q &amp; A</a:t>
            </a:r>
            <a:endParaRPr b="1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7" name="Google Shape;237;p36"/>
          <p:cNvSpPr txBox="1"/>
          <p:nvPr>
            <p:ph idx="1" type="body"/>
          </p:nvPr>
        </p:nvSpPr>
        <p:spPr>
          <a:xfrm>
            <a:off x="628650" y="1385688"/>
            <a:ext cx="8218200" cy="32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lang="en" sz="2700"/>
              <a:t>Thank you.</a:t>
            </a:r>
            <a:endParaRPr sz="2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</a:pPr>
            <a:r>
              <a:t/>
            </a:r>
            <a:endParaRPr sz="27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700"/>
              <a:buNone/>
            </a:pPr>
            <a:r>
              <a:t/>
            </a:r>
            <a:endParaRPr sz="27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